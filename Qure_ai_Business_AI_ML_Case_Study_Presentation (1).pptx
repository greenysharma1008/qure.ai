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114800" cy="411480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480560"/>
            <a:ext cx="3017520" cy="3017520"/>
          </a:xfrm>
          <a:prstGeom prst="ellipse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BUSINESS AI/ML</a:t>
            </a:r>
            <a:br/>
            <a: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How AI Is Helping Indian Hospitals Improve Tuberculosis and Lung Disease Detection from Chest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6858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6F0"/>
                </a:solidFill>
                <a:latin typeface="Arial"/>
              </a:defRPr>
            </a:pPr>
            <a:r>
              <a:t>Selected Organization: Qure.ai</a:t>
            </a:r>
            <a:br/>
            <a:r>
              <a:t>Industry: Healthcare and Medical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1. Company / Industry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35661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493775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Healthcare Industry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Provides diagnosis, treatment, preventive care, testing, and patient monitoring.</a:t>
            </a:r>
            <a:br/>
            <a:br/>
            <a:r>
              <a:t>Key stakeholders: patients, hospitals, clinics, diagnostic laboratories, public health programs, and healthcare professionals.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35661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27632"/>
            <a:ext cx="47548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About Qure.ai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A healthcare AI company developing medical imaging and diagnostic-support technologies.</a:t>
            </a:r>
            <a:br/>
            <a:br/>
            <a:r>
              <a:t>Its qXR product analyzes chest X-rays and identifies findings associated with TB and other chest abnormalities.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2.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  <a:latin typeface="Arial"/>
              </a:defRPr>
            </a:pPr>
            <a:r>
              <a:t>The operational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  <a:latin typeface="Arial"/>
              </a:defRPr>
            </a:pPr>
            <a:r>
              <a:t>Indian hospitals and TB screening programs must review large numbers of chest X-rays.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  <a:latin typeface="Arial"/>
              </a:defRPr>
            </a:pPr>
            <a:r>
              <a:t>Radiologists may be limited, especially in smaller hospitals and rural facilities.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  <a:latin typeface="Arial"/>
              </a:defRPr>
            </a:pPr>
            <a:r>
              <a:t>Reporting backlogs can delay referral, confirmatory testing, and treatment.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  <a:latin typeface="Arial"/>
              </a:defRPr>
            </a:pPr>
            <a:r>
              <a:t>Healthcare organizations need to use staff, equipment, and budgets efficiently.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2"/>
                </a:solidFill>
                <a:latin typeface="Arial"/>
              </a:defRPr>
            </a:pPr>
            <a:r>
              <a:t>The goal is faster screening and prioritization—not autonomous diagnosis.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3. Data Required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819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Chest X-ray images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Digital images from hospitals, diagnostic centers, or screening units.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41732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5819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Expert labels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Radiologist reports, annotations, and clinically verified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5819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Clinical context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Relevant age, symptoms, history, and other necessary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Confirmatory results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Laboratory or clinical results for evaluation and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56616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73075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Workflow data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Reporting time, referrals, follow-up, and staff workload.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4. AI/ML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35661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Computer Vision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Processes and analyzes chest X-ray images to identify visual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29000" cy="35661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36192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Deep Learning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Learns patterns from labeled medical images using neural-network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429000" cy="356616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36192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Classification &amp; Prioritization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Produces a screening output or priority flag for clinical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F6973"/>
                </a:solidFill>
                <a:latin typeface="Arial"/>
              </a:defRPr>
            </a:pPr>
            <a:r>
              <a:t>Why suitable? Chest X-rays are visual data, so computer vision is appropriate for detecting patterns that may require further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5. How the Solution Would Work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920240"/>
            <a:ext cx="731520" cy="73152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4"/>
                </a:solidFill>
                <a:latin typeface="Arial"/>
              </a:defRPr>
            </a:pPr>
            <a:r>
              <a:t>X-ray taken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2167128"/>
            <a:ext cx="594360" cy="274320"/>
          </a:xfrm>
          <a:prstGeom prst="rightArrow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71800" y="1920240"/>
            <a:ext cx="731520" cy="73152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08483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880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4"/>
                </a:solidFill>
                <a:latin typeface="Arial"/>
              </a:defRPr>
            </a:pPr>
            <a:r>
              <a:t>Image securely submitted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94760" y="2167128"/>
            <a:ext cx="594360" cy="274320"/>
          </a:xfrm>
          <a:prstGeom prst="rightArrow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6320" y="1920240"/>
            <a:ext cx="731520" cy="73152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8483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80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4"/>
                </a:solidFill>
                <a:latin typeface="Arial"/>
              </a:defRPr>
            </a:pPr>
            <a:r>
              <a:t>AI analyzes image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69279" y="2167128"/>
            <a:ext cx="594360" cy="274320"/>
          </a:xfrm>
          <a:prstGeom prst="rightArrow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0840" y="1920240"/>
            <a:ext cx="731520" cy="73152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08483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880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4"/>
                </a:solidFill>
                <a:latin typeface="Arial"/>
              </a:defRPr>
            </a:pPr>
            <a:r>
              <a:t>Priority flag generated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543800" y="2167128"/>
            <a:ext cx="594360" cy="274320"/>
          </a:xfrm>
          <a:prstGeom prst="rightArrow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59" y="1920240"/>
            <a:ext cx="731520" cy="73152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59" y="208483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80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4"/>
                </a:solidFill>
                <a:latin typeface="Arial"/>
              </a:defRPr>
            </a:pPr>
            <a:r>
              <a:t>Doctor reviews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18319" y="2167128"/>
            <a:ext cx="594360" cy="274320"/>
          </a:xfrm>
          <a:prstGeom prst="rightArrow">
            <a:avLst/>
          </a:prstGeom>
          <a:solidFill>
            <a:srgbClr val="2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69880" y="1920240"/>
            <a:ext cx="731520" cy="731520"/>
          </a:xfrm>
          <a:prstGeom prst="ellipse">
            <a:avLst/>
          </a:prstGeom>
          <a:solidFill>
            <a:srgbClr val="2A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208483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88036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3054"/>
                </a:solidFill>
                <a:latin typeface="Arial"/>
              </a:defRPr>
            </a:pPr>
            <a:r>
              <a:t>Further action if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3054"/>
                </a:solidFill>
                <a:latin typeface="Arial"/>
              </a:defRPr>
            </a:pPr>
            <a:r>
              <a:t>Business Data → AI/ML System → Prediction / Priority Flag → Clinical Review → Action → Improved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6. 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Faster screening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Quick analysis can help identify cases needing priority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Improved access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Supports screening where specialist availability is limited.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2588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Operational efficiency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Helps organize imaging workloads and staff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Public health support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Can support active TB case-finding programs.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47472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Patient experience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May reduce delays in screening and referral.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474720"/>
            <a:ext cx="3337560" cy="1600200"/>
          </a:xfrm>
          <a:prstGeom prst="roundRect">
            <a:avLst/>
          </a:prstGeom>
          <a:solidFill>
            <a:srgbClr val="F1F7F1"/>
          </a:solidFill>
          <a:ln w="15240">
            <a:solidFill>
              <a:srgbClr val="2C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Cost management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Potentially improves resource utilization.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Evidence from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Qure.ai and PATH documented implementation of an AI chest X-ray screening tool in a TB active case-finding program in Nagpur, India.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The implementation highlighted practical issues such as workflow integration, connectivity, software installation, and staffing.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Qure.ai has published an evaluation summary reporting increased TB detection and reduced costs in the evaluated Indian setting.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Results from one program should not automatically be assumed for every hospital; local validation is necessary.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7. Challenges, Risks &amp; Responsible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37560" cy="160020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CD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Privacy &amp; security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Protect sensitive patient records and X-rays.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337560" cy="160020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CD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False positives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May lead to unnecessary tests or workload.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25880"/>
            <a:ext cx="3337560" cy="160020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CD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False negatives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May delay further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337560" cy="160020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CD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Bias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Performance may vary across populations and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474720"/>
            <a:ext cx="3337560" cy="160020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CD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Transparency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Users must understand limitations and intended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474720"/>
            <a:ext cx="3337560" cy="1600200"/>
          </a:xfrm>
          <a:prstGeom prst="roundRect">
            <a:avLst/>
          </a:prstGeom>
          <a:solidFill>
            <a:srgbClr val="FDF4E8"/>
          </a:solidFill>
          <a:ln w="15240">
            <a:solidFill>
              <a:srgbClr val="CD8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Human oversight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Clinicians remain responsible for medical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8. Recommendation to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Begin with a controlled pilot in one hospital, department, or TB screening program.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Define the intended use clearly: screening support and case prioritization.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Validate performance using local patient populations, equipment, and workflows.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Keep doctors and radiologists in control of diagnosis and treatment decisions.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Implement encryption, access controls, audit logs, and staff training.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2"/>
                </a:solidFill>
                <a:latin typeface="Arial"/>
              </a:defRPr>
            </a:pPr>
            <a:r>
              <a:t>Measure clinical, operational, financial, and patient-safety outcomes before scaling.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Suggested 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Sensitivity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Ability to identify relevant positive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32588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Specificity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Ability to avoid incorrectly flagging negative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2588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49047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Turnaround time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Speed of initial AI-assisted assessment.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Referral completion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Whether patients complete follow-up.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47472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Cost per screening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Financial efficiency of the program.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474720"/>
            <a:ext cx="3337560" cy="1600200"/>
          </a:xfrm>
          <a:prstGeom prst="roundRect">
            <a:avLst/>
          </a:prstGeom>
          <a:solidFill>
            <a:srgbClr val="E8F3FC"/>
          </a:solidFill>
          <a:ln w="15240">
            <a:solidFill>
              <a:srgbClr val="2A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639312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Safety incidents</a:t>
            </a:r>
          </a:p>
          <a:p>
            <a:pPr>
              <a:spcBef>
                <a:spcPts val="800"/>
              </a:spcBef>
              <a:defRPr sz="1300">
                <a:solidFill>
                  <a:srgbClr val="232A32"/>
                </a:solidFill>
                <a:latin typeface="Arial"/>
              </a:defRPr>
            </a:pPr>
            <a:r>
              <a:t>Errors or harm linked to system 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A32"/>
                </a:solidFill>
                <a:latin typeface="Arial"/>
              </a:defRPr>
            </a:pPr>
            <a:r>
              <a:t>AI can help Indian hospitals screen large numbers of chest X-rays more efficiently.</a:t>
            </a:r>
          </a:p>
          <a:p>
            <a:pPr>
              <a:spcAft>
                <a:spcPts val="1200"/>
              </a:spcAft>
              <a:defRPr sz="2200" b="0">
                <a:solidFill>
                  <a:srgbClr val="232A32"/>
                </a:solidFill>
                <a:latin typeface="Arial"/>
              </a:defRPr>
            </a:pPr>
            <a:r>
              <a:t>Computer vision and deep learning can support image analysis and case prioritization.</a:t>
            </a:r>
          </a:p>
          <a:p>
            <a:pPr>
              <a:spcAft>
                <a:spcPts val="1200"/>
              </a:spcAft>
              <a:defRPr sz="2200" b="0">
                <a:solidFill>
                  <a:srgbClr val="232A32"/>
                </a:solidFill>
                <a:latin typeface="Arial"/>
              </a:defRPr>
            </a:pPr>
            <a:r>
              <a:t>The main value is improved workflow, resource utilization, screening access, and public health support.</a:t>
            </a:r>
          </a:p>
          <a:p>
            <a:pPr>
              <a:spcAft>
                <a:spcPts val="1200"/>
              </a:spcAft>
              <a:defRPr sz="2200" b="0">
                <a:solidFill>
                  <a:srgbClr val="232A32"/>
                </a:solidFill>
                <a:latin typeface="Arial"/>
              </a:defRPr>
            </a:pPr>
            <a:r>
              <a:t>AI must not be treated as a replacement for clinical judgment.</a:t>
            </a:r>
          </a:p>
          <a:p>
            <a:pPr>
              <a:spcAft>
                <a:spcPts val="1200"/>
              </a:spcAft>
              <a:defRPr sz="2200" b="0">
                <a:solidFill>
                  <a:srgbClr val="232A32"/>
                </a:solidFill>
                <a:latin typeface="Arial"/>
              </a:defRPr>
            </a:pPr>
            <a:r>
              <a:t>Safe implementation requires local validation, privacy protection, monitoring, and human oversight.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5074920"/>
            <a:ext cx="10149840" cy="685800"/>
          </a:xfrm>
          <a:prstGeom prst="round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5230368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Recommended principle: AI supports clinicians; it does not replace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05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A32"/>
                </a:solidFill>
                <a:latin typeface="Arial"/>
              </a:defRPr>
            </a:pPr>
            <a:r>
              <a:t>World Health Organization. (2021). Ethics and governance of artificial intelligence for health: WHO guidance.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2"/>
                </a:solidFill>
                <a:latin typeface="Arial"/>
              </a:defRPr>
            </a:pPr>
            <a:r>
              <a:t>World Health Organization. (2021). WHO issues first global report on AI in health and six guiding principles.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2"/>
                </a:solidFill>
                <a:latin typeface="Arial"/>
              </a:defRPr>
            </a:pPr>
            <a:r>
              <a:t>Qure.ai. (2023). Implementing a chest X-ray artificial intelligence tool to enhance tuberculosis screening in India: Lessons learned.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2"/>
                </a:solidFill>
                <a:latin typeface="Arial"/>
              </a:defRPr>
            </a:pPr>
            <a:r>
              <a:t>Qure.ai. Health Technology Assessment: AI-Assisted TB Screening.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663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054"/>
                </a:solidFill>
                <a:latin typeface="Arial"/>
              </a:defRPr>
            </a:pPr>
            <a:r>
              <a:t>Useful source websites:</a:t>
            </a:r>
          </a:p>
          <a:p>
            <a:pPr>
              <a:defRPr sz="1500">
                <a:solidFill>
                  <a:srgbClr val="5F6973"/>
                </a:solidFill>
                <a:latin typeface="Arial"/>
              </a:defRPr>
            </a:pPr>
            <a:r>
              <a:t>who.int/publications/i/item/9789240029200</a:t>
            </a:r>
          </a:p>
          <a:p>
            <a:pPr>
              <a:defRPr sz="1500">
                <a:solidFill>
                  <a:srgbClr val="5F6973"/>
                </a:solidFill>
                <a:latin typeface="Arial"/>
              </a:defRPr>
            </a:pPr>
            <a:r>
              <a:t>qure.ai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Business AI/ML Case Study  |  Qure.ai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